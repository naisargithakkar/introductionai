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95"/>
    <p:restoredTop sz="94691"/>
  </p:normalViewPr>
  <p:slideViewPr>
    <p:cSldViewPr snapToGrid="0" snapToObjects="1">
      <p:cViewPr varScale="1">
        <p:scale>
          <a:sx n="114" d="100"/>
          <a:sy n="114" d="100"/>
        </p:scale>
        <p:origin x="200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09123-A279-D843-A736-73C810965DDB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51F83-1D07-F04B-8FF8-D29014E5A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0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51F83-1D07-F04B-8FF8-D29014E5AC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83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0555-BAB4-67BB-E9F8-9F0CD230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7F4AC-86EC-9FB3-2EF6-53AEE2979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62895-BDCB-F94D-2B79-628FB7786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6B3B-BAAF-859A-9E77-4627D9F29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51F83-1D07-F04B-8FF8-D29014E5AC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0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1280160"/>
            <a:ext cx="201168" cy="201168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965960"/>
            <a:ext cx="137160" cy="137160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2560320"/>
            <a:ext cx="164592" cy="164592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55680" y="3246120"/>
            <a:ext cx="182880" cy="182880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0" y="3886200"/>
            <a:ext cx="146304" cy="146304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138160" y="3749039"/>
            <a:ext cx="118872" cy="118872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98480" y="4754880"/>
            <a:ext cx="164592" cy="164592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0" y="5120640"/>
            <a:ext cx="146304" cy="146304"/>
          </a:xfrm>
          <a:prstGeom prst="ellipse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9738360" y="1463040"/>
            <a:ext cx="1051560" cy="594360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869680" y="1463040"/>
            <a:ext cx="868680" cy="1188720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211312" y="2651760"/>
            <a:ext cx="658368" cy="1188720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2651760"/>
            <a:ext cx="1005840" cy="1325879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875520" y="3383280"/>
            <a:ext cx="1371600" cy="594359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0" y="3977639"/>
            <a:ext cx="914400" cy="868681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11312" y="3840480"/>
            <a:ext cx="548640" cy="1371600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59952" y="4846320"/>
            <a:ext cx="2029968" cy="365760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789920" y="2057400"/>
            <a:ext cx="457200" cy="1325880"/>
          </a:xfrm>
          <a:prstGeom prst="line">
            <a:avLst/>
          </a:prstGeom>
          <a:ln w="12700">
            <a:solidFill>
              <a:srgbClr val="315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96307" y="187476"/>
            <a:ext cx="2788920" cy="274320"/>
          </a:xfrm>
          <a:prstGeom prst="roundRect">
            <a:avLst/>
          </a:prstGeom>
          <a:solidFill>
            <a:srgbClr val="162D4B"/>
          </a:solidFill>
          <a:ln>
            <a:solidFill>
              <a:srgbClr val="16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8686800" y="164592"/>
            <a:ext cx="2715768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900" b="1" i="0">
                <a:solidFill>
                  <a:srgbClr val="2CBEC6"/>
                </a:solidFill>
                <a:latin typeface="Aptos"/>
              </a:defRPr>
            </a:pPr>
            <a:r>
              <a:rPr sz="1600" dirty="0"/>
              <a:t>INTRO</a:t>
            </a:r>
            <a:r>
              <a:rPr lang="en-US" sz="1600" dirty="0"/>
              <a:t>DUCTION TO AI</a:t>
            </a:r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411481" y="506766"/>
            <a:ext cx="7498079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rPr lang="en-IN" sz="4000" dirty="0"/>
              <a:t>AI in Cyber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1725625"/>
            <a:ext cx="6400800" cy="7278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900" b="0" i="0">
                <a:solidFill>
                  <a:srgbClr val="D0E0EE"/>
                </a:solidFill>
                <a:latin typeface="Aptos"/>
              </a:defRPr>
            </a:pPr>
            <a:r>
              <a:rPr sz="2000" dirty="0"/>
              <a:t>Intelligent threat detection, anomaly identification</a:t>
            </a:r>
          </a:p>
          <a:p>
            <a:pPr algn="l">
              <a:spcAft>
                <a:spcPts val="300"/>
              </a:spcAft>
              <a:defRPr sz="1900" b="0" i="0">
                <a:solidFill>
                  <a:srgbClr val="D0E0EE"/>
                </a:solidFill>
                <a:latin typeface="Aptos"/>
              </a:defRPr>
            </a:pPr>
            <a:r>
              <a:rPr sz="2000" dirty="0"/>
              <a:t>&amp; automated incident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1" y="2628537"/>
            <a:ext cx="1097280" cy="54864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853142"/>
            <a:ext cx="6035040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B5C8DA"/>
                </a:solidFill>
                <a:latin typeface="Aptos"/>
              </a:defRPr>
            </a:pPr>
            <a:r>
              <a:rPr sz="1600" dirty="0"/>
              <a:t>A practical view of AI/ML applications, industry solutions,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B5C8DA"/>
                </a:solidFill>
                <a:latin typeface="Aptos"/>
              </a:defRPr>
            </a:pPr>
            <a:r>
              <a:rPr sz="1600" dirty="0"/>
              <a:t>implementation risks and responsible adoption.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4110473"/>
            <a:ext cx="4294922" cy="23129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B5C8DA"/>
                </a:solidFill>
                <a:latin typeface="Aptos"/>
              </a:defRPr>
            </a:pPr>
            <a:r>
              <a:rPr lang="en-US" sz="1600" dirty="0"/>
              <a:t>Group 09:</a:t>
            </a:r>
          </a:p>
          <a:p>
            <a:pPr algn="l">
              <a:spcAft>
                <a:spcPts val="300"/>
              </a:spcAft>
              <a:defRPr sz="1000" b="1" i="0">
                <a:solidFill>
                  <a:srgbClr val="B5C8DA"/>
                </a:solidFill>
                <a:latin typeface="Aptos"/>
              </a:defRPr>
            </a:pPr>
            <a:endParaRPr lang="en-US" sz="1600" dirty="0"/>
          </a:p>
          <a:p>
            <a:pPr marL="228600" indent="-228600" algn="l">
              <a:spcAft>
                <a:spcPts val="300"/>
              </a:spcAft>
              <a:buAutoNum type="arabicPeriod"/>
              <a:defRPr sz="1000" b="1" i="0">
                <a:solidFill>
                  <a:srgbClr val="B5C8DA"/>
                </a:solidFill>
                <a:latin typeface="Aptos"/>
              </a:defRPr>
            </a:pPr>
            <a:r>
              <a:rPr lang="en-US" sz="1600" dirty="0"/>
              <a:t>Diya </a:t>
            </a:r>
            <a:r>
              <a:rPr lang="en-US" sz="1600" dirty="0" err="1"/>
              <a:t>Bakraniya</a:t>
            </a:r>
            <a:endParaRPr lang="en-US" sz="1600" dirty="0"/>
          </a:p>
          <a:p>
            <a:pPr marL="228600" indent="-228600" algn="l">
              <a:spcAft>
                <a:spcPts val="300"/>
              </a:spcAft>
              <a:buAutoNum type="arabicPeriod"/>
              <a:defRPr sz="1000" b="1" i="0">
                <a:solidFill>
                  <a:srgbClr val="B5C8DA"/>
                </a:solidFill>
                <a:latin typeface="Aptos"/>
              </a:defRPr>
            </a:pPr>
            <a:r>
              <a:rPr lang="en-US" sz="1600" dirty="0"/>
              <a:t>Khushi Shah</a:t>
            </a:r>
          </a:p>
          <a:p>
            <a:pPr marL="228600" indent="-228600" algn="l">
              <a:spcAft>
                <a:spcPts val="300"/>
              </a:spcAft>
              <a:buAutoNum type="arabicPeriod"/>
              <a:defRPr sz="1000" b="1" i="0">
                <a:solidFill>
                  <a:srgbClr val="B5C8DA"/>
                </a:solidFill>
                <a:latin typeface="Aptos"/>
              </a:defRPr>
            </a:pPr>
            <a:r>
              <a:rPr lang="en-US" sz="1600" dirty="0"/>
              <a:t>Maitri Jani</a:t>
            </a:r>
          </a:p>
          <a:p>
            <a:pPr marL="228600" indent="-228600" algn="l">
              <a:spcAft>
                <a:spcPts val="300"/>
              </a:spcAft>
              <a:buAutoNum type="arabicPeriod"/>
              <a:defRPr sz="1000" b="1" i="0">
                <a:solidFill>
                  <a:srgbClr val="B5C8DA"/>
                </a:solidFill>
                <a:latin typeface="Aptos"/>
              </a:defRPr>
            </a:pPr>
            <a:r>
              <a:rPr lang="en-US" sz="1600" dirty="0"/>
              <a:t>Mohit Sharma</a:t>
            </a:r>
          </a:p>
          <a:p>
            <a:pPr marL="228600" indent="-228600" algn="l">
              <a:spcAft>
                <a:spcPts val="300"/>
              </a:spcAft>
              <a:buAutoNum type="arabicPeriod"/>
              <a:defRPr sz="1000" b="1" i="0">
                <a:solidFill>
                  <a:srgbClr val="B5C8DA"/>
                </a:solidFill>
                <a:latin typeface="Aptos"/>
              </a:defRPr>
            </a:pPr>
            <a:r>
              <a:rPr lang="en-US" sz="1600" dirty="0" err="1"/>
              <a:t>Naisargi</a:t>
            </a:r>
            <a:r>
              <a:rPr lang="en-US" sz="1600" dirty="0"/>
              <a:t> Thakkar</a:t>
            </a:r>
          </a:p>
          <a:p>
            <a:pPr marL="228600" indent="-228600" algn="l">
              <a:spcAft>
                <a:spcPts val="300"/>
              </a:spcAft>
              <a:buAutoNum type="arabicPeriod"/>
              <a:defRPr sz="1000" b="1" i="0">
                <a:solidFill>
                  <a:srgbClr val="B5C8DA"/>
                </a:solidFill>
                <a:latin typeface="Aptos"/>
              </a:defRPr>
            </a:pPr>
            <a:r>
              <a:rPr lang="en-US" sz="1600" dirty="0"/>
              <a:t>Nishant Purohit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179691"/>
                </a:solidFill>
                <a:latin typeface="Aptos"/>
              </a:defRPr>
            </a:pPr>
            <a:r>
              <a:rPr sz="1200" dirty="0"/>
              <a:t>THE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1F37"/>
                </a:solidFill>
                <a:latin typeface="Aptos Display"/>
              </a:defRPr>
            </a:pPr>
            <a:r>
              <a:rPr sz="2800" dirty="0"/>
              <a:t>Cybersecurity Threats &amp; Their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0972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7798E"/>
                </a:solidFill>
                <a:latin typeface="Aptos"/>
              </a:defRPr>
            </a:pPr>
            <a:r>
              <a:rPr sz="1400" dirty="0"/>
              <a:t>Financial institutions are high-value targets because they </a:t>
            </a:r>
            <a:r>
              <a:rPr lang="en-US" sz="1400" dirty="0"/>
              <a:t>handle</a:t>
            </a:r>
            <a:r>
              <a:rPr sz="1400" dirty="0"/>
              <a:t> money, sensitive data and </a:t>
            </a:r>
            <a:r>
              <a:rPr lang="en-US" sz="1400" dirty="0"/>
              <a:t>are heavily dependent on</a:t>
            </a:r>
            <a:r>
              <a:rPr sz="1400" dirty="0"/>
              <a:t> digital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548640" y="1659636"/>
            <a:ext cx="11018520" cy="566928"/>
          </a:xfrm>
          <a:prstGeom prst="roundRect">
            <a:avLst/>
          </a:prstGeom>
          <a:solidFill>
            <a:srgbClr val="162D4B"/>
          </a:solidFill>
          <a:ln>
            <a:solidFill>
              <a:srgbClr val="16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68096" y="1695605"/>
            <a:ext cx="1828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CBEC6"/>
                </a:solidFill>
                <a:latin typeface="Aptos"/>
              </a:defRPr>
            </a:pPr>
            <a:r>
              <a:rPr sz="1400" dirty="0"/>
              <a:t>WHY FINANCIAL SERVICES?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5476" y="1770956"/>
            <a:ext cx="8686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Valuable data  •  Continuous transactions  •  Connected systems  •  Third-party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95728"/>
            <a:ext cx="35387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Rectangle 10"/>
          <p:cNvSpPr/>
          <p:nvPr/>
        </p:nvSpPr>
        <p:spPr>
          <a:xfrm>
            <a:off x="566928" y="2468880"/>
            <a:ext cx="50292" cy="877824"/>
          </a:xfrm>
          <a:prstGeom prst="rect">
            <a:avLst/>
          </a:prstGeom>
          <a:solidFill>
            <a:srgbClr val="E8A03A"/>
          </a:solidFill>
          <a:ln>
            <a:solidFill>
              <a:srgbClr val="E8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81228" y="2486069"/>
            <a:ext cx="32644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Phishing &amp; </a:t>
            </a:r>
            <a:r>
              <a:rPr lang="en-US" sz="1400" dirty="0"/>
              <a:t>S</a:t>
            </a:r>
            <a:r>
              <a:rPr sz="1400" dirty="0"/>
              <a:t>ocial </a:t>
            </a:r>
            <a:r>
              <a:rPr lang="en-US" sz="1400" dirty="0"/>
              <a:t>E</a:t>
            </a:r>
            <a:r>
              <a:rPr sz="1400" dirty="0"/>
              <a:t>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692" y="2771206"/>
            <a:ext cx="32461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50" b="0" i="0">
                <a:solidFill>
                  <a:srgbClr val="233143"/>
                </a:solidFill>
                <a:latin typeface="Aptos"/>
              </a:defRPr>
            </a:pPr>
            <a:r>
              <a:rPr lang="en-US" sz="1400" dirty="0"/>
              <a:t>Sending f</a:t>
            </a:r>
            <a:r>
              <a:rPr sz="1400" dirty="0"/>
              <a:t>ake messages </a:t>
            </a:r>
            <a:r>
              <a:rPr lang="en-US" sz="1400" dirty="0"/>
              <a:t>to </a:t>
            </a:r>
            <a:r>
              <a:rPr sz="1400" dirty="0"/>
              <a:t>manipulate </a:t>
            </a:r>
            <a:r>
              <a:rPr lang="en-US" sz="1400" dirty="0"/>
              <a:t>users &amp; employees</a:t>
            </a:r>
            <a:r>
              <a:rPr sz="14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2395728"/>
            <a:ext cx="35387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Rectangle 14"/>
          <p:cNvSpPr/>
          <p:nvPr/>
        </p:nvSpPr>
        <p:spPr>
          <a:xfrm>
            <a:off x="4306824" y="2468880"/>
            <a:ext cx="50292" cy="877824"/>
          </a:xfrm>
          <a:prstGeom prst="rect">
            <a:avLst/>
          </a:prstGeom>
          <a:solidFill>
            <a:srgbClr val="CB4F52"/>
          </a:solidFill>
          <a:ln>
            <a:solidFill>
              <a:srgbClr val="CB4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4471416" y="2454113"/>
            <a:ext cx="32644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1600" b="1" i="0">
                <a:solidFill>
                  <a:srgbClr val="0F1F37"/>
                </a:solidFill>
                <a:latin typeface="Aptos"/>
              </a:defRPr>
            </a:lvl1pPr>
          </a:lstStyle>
          <a:p>
            <a:r>
              <a:rPr sz="1400" dirty="0"/>
              <a:t>Ransomware &amp; </a:t>
            </a:r>
            <a:r>
              <a:rPr lang="en-US" sz="1400" dirty="0"/>
              <a:t>M</a:t>
            </a:r>
            <a:r>
              <a:rPr sz="1400" dirty="0"/>
              <a:t>alware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767681"/>
            <a:ext cx="32461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1400" b="0" i="0">
                <a:solidFill>
                  <a:srgbClr val="233143"/>
                </a:solidFill>
                <a:latin typeface="Aptos"/>
              </a:defRPr>
            </a:lvl1pPr>
          </a:lstStyle>
          <a:p>
            <a:r>
              <a:rPr dirty="0"/>
              <a:t>Malicious software </a:t>
            </a:r>
            <a:r>
              <a:rPr lang="en-US" dirty="0"/>
              <a:t>to </a:t>
            </a:r>
            <a:r>
              <a:rPr dirty="0"/>
              <a:t>steal data or disrupt operations.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395728"/>
            <a:ext cx="35387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Rectangle 18"/>
          <p:cNvSpPr/>
          <p:nvPr/>
        </p:nvSpPr>
        <p:spPr>
          <a:xfrm>
            <a:off x="8046719" y="2468880"/>
            <a:ext cx="50292" cy="877824"/>
          </a:xfrm>
          <a:prstGeom prst="rect">
            <a:avLst/>
          </a:prstGeom>
          <a:solidFill>
            <a:srgbClr val="296FB5"/>
          </a:solidFill>
          <a:ln>
            <a:solidFill>
              <a:srgbClr val="29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8222188" y="2454113"/>
            <a:ext cx="32644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Account </a:t>
            </a:r>
            <a:r>
              <a:rPr lang="en-US" sz="1400" dirty="0"/>
              <a:t>T</a:t>
            </a:r>
            <a:r>
              <a:rPr sz="1400" dirty="0"/>
              <a:t>akeover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2188" y="2771206"/>
            <a:ext cx="32461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50" b="0" i="0">
                <a:solidFill>
                  <a:srgbClr val="233143"/>
                </a:solidFill>
                <a:latin typeface="Aptos"/>
              </a:defRPr>
            </a:pPr>
            <a:r>
              <a:rPr lang="en-US" sz="1400" dirty="0"/>
              <a:t>Use of s</a:t>
            </a:r>
            <a:r>
              <a:rPr sz="1400" dirty="0"/>
              <a:t>tolen credentials </a:t>
            </a:r>
            <a:r>
              <a:rPr lang="en-US" sz="1400" dirty="0"/>
              <a:t>for </a:t>
            </a:r>
            <a:r>
              <a:rPr sz="1400" dirty="0"/>
              <a:t> unauthorized access and transfers.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584448"/>
            <a:ext cx="35387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Rectangle 22"/>
          <p:cNvSpPr/>
          <p:nvPr/>
        </p:nvSpPr>
        <p:spPr>
          <a:xfrm>
            <a:off x="566928" y="3657600"/>
            <a:ext cx="50292" cy="877824"/>
          </a:xfrm>
          <a:prstGeom prst="rect">
            <a:avLst/>
          </a:prstGeom>
          <a:solidFill>
            <a:srgbClr val="7B63BB"/>
          </a:solidFill>
          <a:ln>
            <a:solidFill>
              <a:srgbClr val="7B6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722376" y="3661938"/>
            <a:ext cx="32644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DDoS </a:t>
            </a:r>
            <a:r>
              <a:rPr lang="en-US" sz="1400" dirty="0"/>
              <a:t>A</a:t>
            </a:r>
            <a:r>
              <a:rPr sz="1400" dirty="0"/>
              <a:t>ttacks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" y="3991146"/>
            <a:ext cx="32461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50" b="0" i="0">
                <a:solidFill>
                  <a:srgbClr val="233143"/>
                </a:solidFill>
                <a:latin typeface="Aptos"/>
              </a:defRPr>
            </a:pPr>
            <a:r>
              <a:rPr lang="en-US" sz="1400" dirty="0"/>
              <a:t>Flooding of traffic to </a:t>
            </a:r>
            <a:r>
              <a:rPr sz="1400" dirty="0"/>
              <a:t>make</a:t>
            </a:r>
            <a:r>
              <a:rPr lang="en-US" sz="1400" dirty="0"/>
              <a:t> </a:t>
            </a:r>
            <a:r>
              <a:rPr sz="1400" dirty="0"/>
              <a:t>banking and payment services unavailable.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584448"/>
            <a:ext cx="35387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Rectangle 26"/>
          <p:cNvSpPr/>
          <p:nvPr/>
        </p:nvSpPr>
        <p:spPr>
          <a:xfrm>
            <a:off x="4306824" y="3657600"/>
            <a:ext cx="50292" cy="877824"/>
          </a:xfrm>
          <a:prstGeom prst="rect">
            <a:avLst/>
          </a:prstGeom>
          <a:solidFill>
            <a:srgbClr val="179691"/>
          </a:solidFill>
          <a:ln>
            <a:solidFill>
              <a:srgbClr val="17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4471416" y="3666510"/>
            <a:ext cx="32644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AI </a:t>
            </a:r>
            <a:r>
              <a:rPr lang="en-US" sz="1400" dirty="0"/>
              <a:t>F</a:t>
            </a:r>
            <a:r>
              <a:rPr sz="1400" dirty="0"/>
              <a:t>raud &amp; </a:t>
            </a:r>
            <a:r>
              <a:rPr lang="en-US" sz="1400" dirty="0"/>
              <a:t>D</a:t>
            </a:r>
            <a:r>
              <a:rPr sz="1400" dirty="0"/>
              <a:t>eepfakes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991146"/>
            <a:ext cx="32461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50" b="0" i="0">
                <a:solidFill>
                  <a:srgbClr val="233143"/>
                </a:solidFill>
                <a:latin typeface="Aptos"/>
              </a:defRPr>
            </a:pPr>
            <a:r>
              <a:rPr lang="en-US" sz="1400" dirty="0"/>
              <a:t>Impersonation through s</a:t>
            </a:r>
            <a:r>
              <a:rPr sz="1400" dirty="0"/>
              <a:t>ynthetic voice</a:t>
            </a:r>
            <a:r>
              <a:rPr lang="en-US" sz="1400" dirty="0"/>
              <a:t> and </a:t>
            </a:r>
            <a:r>
              <a:rPr sz="1400" dirty="0"/>
              <a:t>video</a:t>
            </a:r>
            <a:r>
              <a:rPr lang="en-US" sz="1400" dirty="0"/>
              <a:t> </a:t>
            </a:r>
            <a:r>
              <a:rPr sz="1400" dirty="0"/>
              <a:t>messages</a:t>
            </a:r>
            <a:r>
              <a:rPr lang="en-US" sz="1400" dirty="0"/>
              <a:t> to trick people.</a:t>
            </a:r>
            <a:endParaRPr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8046719" y="3584448"/>
            <a:ext cx="3538728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Rectangle 30"/>
          <p:cNvSpPr/>
          <p:nvPr/>
        </p:nvSpPr>
        <p:spPr>
          <a:xfrm>
            <a:off x="8046719" y="3657600"/>
            <a:ext cx="50292" cy="877824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8245941" y="3646268"/>
            <a:ext cx="326440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Supply </a:t>
            </a:r>
            <a:r>
              <a:rPr lang="en-US" sz="1400" dirty="0"/>
              <a:t>C</a:t>
            </a:r>
            <a:r>
              <a:rPr sz="1400" dirty="0"/>
              <a:t>hain &amp; </a:t>
            </a:r>
            <a:r>
              <a:rPr lang="en-US" sz="1400" dirty="0"/>
              <a:t>I</a:t>
            </a:r>
            <a:r>
              <a:rPr sz="1400" dirty="0"/>
              <a:t>nsider </a:t>
            </a:r>
            <a:r>
              <a:rPr lang="en-US" sz="1400" dirty="0"/>
              <a:t>T</a:t>
            </a:r>
            <a:r>
              <a:rPr sz="1400" dirty="0"/>
              <a:t>hreats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3" y="3990439"/>
            <a:ext cx="32461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50" b="0" i="0">
                <a:solidFill>
                  <a:srgbClr val="233143"/>
                </a:solidFill>
                <a:latin typeface="Aptos"/>
              </a:defRPr>
            </a:pPr>
            <a:r>
              <a:rPr lang="en-US" sz="1400" dirty="0"/>
              <a:t>Misuse of access by vendors and employees to </a:t>
            </a:r>
            <a:r>
              <a:rPr sz="1400" dirty="0"/>
              <a:t>expose </a:t>
            </a:r>
            <a:r>
              <a:rPr lang="en-US" sz="1400" dirty="0"/>
              <a:t>internal </a:t>
            </a:r>
            <a:r>
              <a:rPr sz="1400" dirty="0"/>
              <a:t>systems.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4800600"/>
            <a:ext cx="20116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79691"/>
                </a:solidFill>
                <a:latin typeface="Aptos"/>
              </a:defRPr>
            </a:pPr>
            <a:r>
              <a:rPr sz="1400"/>
              <a:t>BUSINESS IMPACT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138928"/>
            <a:ext cx="1746504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Oval 35"/>
          <p:cNvSpPr/>
          <p:nvPr/>
        </p:nvSpPr>
        <p:spPr>
          <a:xfrm>
            <a:off x="694944" y="5321808"/>
            <a:ext cx="146304" cy="146304"/>
          </a:xfrm>
          <a:prstGeom prst="ellipse">
            <a:avLst/>
          </a:prstGeom>
          <a:solidFill>
            <a:srgbClr val="E8A03A"/>
          </a:solidFill>
          <a:ln>
            <a:solidFill>
              <a:srgbClr val="E8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914400" y="5250306"/>
            <a:ext cx="1335024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Financial loss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23160" y="5138928"/>
            <a:ext cx="1746504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Oval 38"/>
          <p:cNvSpPr/>
          <p:nvPr/>
        </p:nvSpPr>
        <p:spPr>
          <a:xfrm>
            <a:off x="2551176" y="5321808"/>
            <a:ext cx="146304" cy="146304"/>
          </a:xfrm>
          <a:prstGeom prst="ellipse">
            <a:avLst/>
          </a:prstGeom>
          <a:solidFill>
            <a:srgbClr val="CB4F52"/>
          </a:solidFill>
          <a:ln>
            <a:solidFill>
              <a:srgbClr val="CB4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2770632" y="5250306"/>
            <a:ext cx="1335024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F1F37"/>
                </a:solidFill>
                <a:latin typeface="Aptos"/>
              </a:defRPr>
            </a:pPr>
            <a:r>
              <a:rPr sz="1400"/>
              <a:t>Data breaches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79392" y="5138928"/>
            <a:ext cx="1746504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Oval 41"/>
          <p:cNvSpPr/>
          <p:nvPr/>
        </p:nvSpPr>
        <p:spPr>
          <a:xfrm>
            <a:off x="4407407" y="5321808"/>
            <a:ext cx="146304" cy="146304"/>
          </a:xfrm>
          <a:prstGeom prst="ellipse">
            <a:avLst/>
          </a:prstGeom>
          <a:solidFill>
            <a:srgbClr val="296FB5"/>
          </a:solidFill>
          <a:ln>
            <a:solidFill>
              <a:srgbClr val="29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4626864" y="5142584"/>
            <a:ext cx="1335024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Service disruption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35624" y="5138928"/>
            <a:ext cx="1746504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Oval 44"/>
          <p:cNvSpPr/>
          <p:nvPr/>
        </p:nvSpPr>
        <p:spPr>
          <a:xfrm>
            <a:off x="6263640" y="5321808"/>
            <a:ext cx="146304" cy="146304"/>
          </a:xfrm>
          <a:prstGeom prst="ellipse">
            <a:avLst/>
          </a:prstGeom>
          <a:solidFill>
            <a:srgbClr val="7B63BB"/>
          </a:solidFill>
          <a:ln>
            <a:solidFill>
              <a:srgbClr val="7B6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6483096" y="5250306"/>
            <a:ext cx="1335024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F1F37"/>
                </a:solidFill>
                <a:latin typeface="Aptos"/>
              </a:defRPr>
            </a:pPr>
            <a:r>
              <a:rPr sz="1400"/>
              <a:t>Regulatory risk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91855" y="5138928"/>
            <a:ext cx="1746504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Oval 47"/>
          <p:cNvSpPr/>
          <p:nvPr/>
        </p:nvSpPr>
        <p:spPr>
          <a:xfrm>
            <a:off x="8119871" y="5321808"/>
            <a:ext cx="146304" cy="146304"/>
          </a:xfrm>
          <a:prstGeom prst="ellipse">
            <a:avLst/>
          </a:prstGeom>
          <a:solidFill>
            <a:srgbClr val="179691"/>
          </a:solidFill>
          <a:ln>
            <a:solidFill>
              <a:srgbClr val="17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9" name="TextBox 48"/>
          <p:cNvSpPr txBox="1"/>
          <p:nvPr/>
        </p:nvSpPr>
        <p:spPr>
          <a:xfrm>
            <a:off x="8339327" y="5250306"/>
            <a:ext cx="1335024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F1F37"/>
                </a:solidFill>
                <a:latin typeface="Aptos"/>
              </a:defRPr>
            </a:pPr>
            <a:r>
              <a:rPr sz="1400"/>
              <a:t>Loss of trust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48087" y="5138928"/>
            <a:ext cx="1746504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Oval 50"/>
          <p:cNvSpPr/>
          <p:nvPr/>
        </p:nvSpPr>
        <p:spPr>
          <a:xfrm>
            <a:off x="9976103" y="5321808"/>
            <a:ext cx="146304" cy="146304"/>
          </a:xfrm>
          <a:prstGeom prst="ellipse">
            <a:avLst/>
          </a:prstGeom>
          <a:solidFill>
            <a:srgbClr val="2F9769"/>
          </a:solidFill>
          <a:ln>
            <a:solidFill>
              <a:srgbClr val="2F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TextBox 51"/>
          <p:cNvSpPr txBox="1"/>
          <p:nvPr/>
        </p:nvSpPr>
        <p:spPr>
          <a:xfrm>
            <a:off x="10195559" y="5250306"/>
            <a:ext cx="1335024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0F1F37"/>
                </a:solidFill>
                <a:latin typeface="Aptos"/>
              </a:defRPr>
            </a:pPr>
            <a:r>
              <a:rPr sz="1400"/>
              <a:t>Recovery costs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961888"/>
            <a:ext cx="108813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Cybersecurity is a business-continuity and customer-protection priority—not only an IT issue.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510528"/>
            <a:ext cx="38404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67798E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179691"/>
                </a:solidFill>
                <a:latin typeface="Aptos"/>
              </a:defRPr>
            </a:pPr>
            <a:r>
              <a:rPr sz="1200" dirty="0"/>
              <a:t>DETECT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1F37"/>
                </a:solidFill>
                <a:latin typeface="Aptos Display"/>
              </a:defRPr>
            </a:pPr>
            <a:r>
              <a:rPr sz="2800" dirty="0"/>
              <a:t>AI in Real-Time Threat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0972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7798E"/>
                </a:solidFill>
                <a:latin typeface="Aptos"/>
              </a:defRPr>
            </a:pPr>
            <a:r>
              <a:rPr sz="1400" dirty="0"/>
              <a:t>AI/ML evaluates transactions, messages and system activity as </a:t>
            </a:r>
            <a:r>
              <a:rPr lang="en-IN" sz="1400" dirty="0"/>
              <a:t>they</a:t>
            </a:r>
            <a:r>
              <a:rPr sz="1400" dirty="0"/>
              <a:t> happen.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3584448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50292" cy="3465576"/>
          </a:xfrm>
          <a:prstGeom prst="rect">
            <a:avLst/>
          </a:prstGeom>
          <a:solidFill>
            <a:srgbClr val="296FB5"/>
          </a:solidFill>
          <a:ln>
            <a:solidFill>
              <a:srgbClr val="29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3101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F1F37"/>
                </a:solidFill>
                <a:latin typeface="Aptos"/>
              </a:defRPr>
            </a:pPr>
            <a:r>
              <a:rPr sz="1600" dirty="0"/>
              <a:t>01  </a:t>
            </a:r>
            <a:r>
              <a:rPr lang="en-US" sz="1600" dirty="0"/>
              <a:t>Transaction</a:t>
            </a:r>
            <a:r>
              <a:rPr sz="1600" dirty="0"/>
              <a:t>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3291840" cy="289002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USE</a:t>
            </a:r>
            <a:r>
              <a:rPr lang="en-US" sz="1400" b="1" dirty="0"/>
              <a:t>:</a:t>
            </a:r>
            <a:r>
              <a:rPr sz="1400" dirty="0"/>
              <a:t> </a:t>
            </a:r>
            <a:r>
              <a:rPr lang="en-US" sz="1400" dirty="0"/>
              <a:t>Detect s</a:t>
            </a:r>
            <a:r>
              <a:rPr sz="1400" dirty="0"/>
              <a:t>uspicious transactions</a:t>
            </a:r>
            <a:r>
              <a:rPr lang="en-US" sz="1400" dirty="0"/>
              <a:t> carried out using stolen credentials.</a:t>
            </a:r>
            <a:r>
              <a:rPr sz="1400" dirty="0"/>
              <a:t> </a:t>
            </a:r>
            <a:endParaRPr lang="en-US"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ALGORITHMS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Random Forest</a:t>
            </a:r>
            <a:r>
              <a:rPr lang="en-US" sz="1400" b="1" dirty="0"/>
              <a:t> &amp; </a:t>
            </a:r>
            <a:r>
              <a:rPr sz="1400" b="1" dirty="0"/>
              <a:t>XGBoost</a:t>
            </a:r>
            <a:r>
              <a:rPr lang="en-US" sz="1400" b="1" dirty="0"/>
              <a:t>: </a:t>
            </a:r>
            <a:r>
              <a:rPr lang="en-US" sz="1400" dirty="0"/>
              <a:t>Learn from historical data and output a fraud probability score.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Graph Neural Networks (GNNs)</a:t>
            </a:r>
            <a:r>
              <a:rPr lang="en-US" sz="1400" b="1" dirty="0"/>
              <a:t>: </a:t>
            </a:r>
            <a:r>
              <a:rPr lang="en-US" sz="1400" dirty="0" err="1"/>
              <a:t>Analyse</a:t>
            </a:r>
            <a:r>
              <a:rPr lang="en-US" sz="1400" dirty="0"/>
              <a:t> relationships between accounts, IP addresses, devices, and transactions.</a:t>
            </a:r>
            <a:endParaRPr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1" name="Rounded Rectangle 10"/>
          <p:cNvSpPr/>
          <p:nvPr/>
        </p:nvSpPr>
        <p:spPr>
          <a:xfrm>
            <a:off x="4306824" y="1719072"/>
            <a:ext cx="3584448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306824" y="1792224"/>
            <a:ext cx="50292" cy="3465576"/>
          </a:xfrm>
          <a:prstGeom prst="rect">
            <a:avLst/>
          </a:prstGeom>
          <a:solidFill>
            <a:srgbClr val="179691"/>
          </a:solidFill>
          <a:ln>
            <a:solidFill>
              <a:srgbClr val="17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471416" y="1828800"/>
            <a:ext cx="331012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F1F37"/>
                </a:solidFill>
                <a:latin typeface="Aptos"/>
              </a:defRPr>
            </a:pPr>
            <a:r>
              <a:rPr sz="1600" dirty="0"/>
              <a:t>02  Phishing &amp; social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231136"/>
            <a:ext cx="3291840" cy="289002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USE: </a:t>
            </a:r>
            <a:r>
              <a:rPr lang="en-US" sz="1400" dirty="0"/>
              <a:t>Identify m</a:t>
            </a:r>
            <a:r>
              <a:rPr sz="1400" dirty="0"/>
              <a:t>alicious emails, spoofed senders and AI-generated phishing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ALGORITHMS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Decision Tree, Random Forest, SVM</a:t>
            </a:r>
            <a:r>
              <a:rPr lang="en-US" sz="1400" dirty="0"/>
              <a:t>: Classify incoming messages as safe, suspicious or fraud.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NLP</a:t>
            </a:r>
            <a:r>
              <a:rPr lang="en-US" sz="1400" b="1" dirty="0"/>
              <a:t> &amp; </a:t>
            </a:r>
            <a:r>
              <a:rPr sz="1400" b="1" dirty="0"/>
              <a:t>Transformer models (</a:t>
            </a:r>
            <a:r>
              <a:rPr lang="en-US" sz="1400" b="1" dirty="0"/>
              <a:t>e.g. </a:t>
            </a:r>
            <a:r>
              <a:rPr sz="1400" b="1" dirty="0"/>
              <a:t>BERT)</a:t>
            </a:r>
            <a:r>
              <a:rPr lang="en-US" sz="1400" b="1" dirty="0"/>
              <a:t>: </a:t>
            </a:r>
            <a:r>
              <a:rPr lang="en-US" sz="1400" dirty="0"/>
              <a:t>Understand the meaning &amp; context of messages.</a:t>
            </a:r>
            <a:endParaRPr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lang="en-US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8046720" y="1719072"/>
            <a:ext cx="3566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046720" y="1792224"/>
            <a:ext cx="50292" cy="3465576"/>
          </a:xfrm>
          <a:prstGeom prst="rect">
            <a:avLst/>
          </a:prstGeom>
          <a:solidFill>
            <a:srgbClr val="CB4F52"/>
          </a:solidFill>
          <a:ln>
            <a:solidFill>
              <a:srgbClr val="CB4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211312" y="1828800"/>
            <a:ext cx="32918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0F1F37"/>
                </a:solidFill>
                <a:latin typeface="Aptos"/>
              </a:defRPr>
            </a:pPr>
            <a:r>
              <a:rPr sz="1600" dirty="0"/>
              <a:t>03  Malware &amp; zero-day threats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231136"/>
            <a:ext cx="3273552" cy="26745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USE: </a:t>
            </a:r>
            <a:r>
              <a:rPr lang="en-US" sz="1400" dirty="0"/>
              <a:t>Detect zero-day attacks &amp; </a:t>
            </a:r>
            <a:r>
              <a:rPr sz="1400" dirty="0"/>
              <a:t>suspicious endpoint/network </a:t>
            </a:r>
            <a:r>
              <a:rPr sz="1400" dirty="0" err="1"/>
              <a:t>behaviour</a:t>
            </a:r>
            <a:endParaRPr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ALGORITHMS</a:t>
            </a:r>
          </a:p>
          <a:p>
            <a:pPr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SVM</a:t>
            </a:r>
            <a:r>
              <a:rPr lang="en-US" sz="1400" b="1" dirty="0"/>
              <a:t>: </a:t>
            </a:r>
            <a:r>
              <a:rPr lang="en-US" sz="1400" dirty="0"/>
              <a:t>Detect network intrusion by classifying data packets as malicious or benign. </a:t>
            </a:r>
          </a:p>
          <a:p>
            <a:pPr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Autoencoders</a:t>
            </a:r>
            <a:r>
              <a:rPr lang="en-US" sz="1400" b="1" dirty="0"/>
              <a:t>:</a:t>
            </a:r>
            <a:r>
              <a:rPr lang="en-US" sz="1400" dirty="0"/>
              <a:t> Help identify previously unseen malware 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9" name="Rounded Rectangle 18"/>
          <p:cNvSpPr/>
          <p:nvPr/>
        </p:nvSpPr>
        <p:spPr>
          <a:xfrm>
            <a:off x="566928" y="5532120"/>
            <a:ext cx="11018520" cy="566928"/>
          </a:xfrm>
          <a:prstGeom prst="roundRect">
            <a:avLst/>
          </a:prstGeom>
          <a:solidFill>
            <a:srgbClr val="162D4B"/>
          </a:solidFill>
          <a:ln>
            <a:solidFill>
              <a:srgbClr val="16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8"/>
            <a:ext cx="112598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CBEC6"/>
                </a:solidFill>
                <a:latin typeface="Aptos"/>
              </a:defRPr>
            </a:pPr>
            <a:r>
              <a:rPr sz="1400" dirty="0"/>
              <a:t>OUTCOME</a:t>
            </a:r>
            <a:endParaRPr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1828800" y="5650992"/>
            <a:ext cx="89611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Earlier detection  •  Reduced fraud losses  •  Faster intervention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38404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67798E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B7574-D688-5486-7F7F-5802D5A4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AAC01-D95A-2DF7-EFEF-34F4E4B1326F}"/>
              </a:ext>
            </a:extLst>
          </p:cNvPr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179691"/>
                </a:solidFill>
                <a:latin typeface="Aptos"/>
              </a:defRPr>
            </a:pPr>
            <a:r>
              <a:rPr sz="1200" dirty="0"/>
              <a:t>DETECT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25F97-6404-E527-01DB-FDBC903147CC}"/>
              </a:ext>
            </a:extLst>
          </p:cNvPr>
          <p:cNvSpPr txBox="1"/>
          <p:nvPr/>
        </p:nvSpPr>
        <p:spPr>
          <a:xfrm>
            <a:off x="530352" y="530352"/>
            <a:ext cx="1110996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1F37"/>
                </a:solidFill>
                <a:latin typeface="Aptos Display"/>
              </a:defRPr>
            </a:pPr>
            <a:r>
              <a:rPr lang="en-US" sz="2800" dirty="0"/>
              <a:t>How AI Detects Fraud in Real Time</a:t>
            </a:r>
            <a:endParaRPr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5E6374-2772-4BEF-0847-DB1457B569C0}"/>
              </a:ext>
            </a:extLst>
          </p:cNvPr>
          <p:cNvSpPr txBox="1"/>
          <p:nvPr/>
        </p:nvSpPr>
        <p:spPr>
          <a:xfrm>
            <a:off x="566928" y="6510528"/>
            <a:ext cx="38404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67798E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  <p:pic>
        <p:nvPicPr>
          <p:cNvPr id="23" name="image2.jpg" descr="How AI Detects Fraud in Digital Payments">
            <a:extLst>
              <a:ext uri="{FF2B5EF4-FFF2-40B4-BE49-F238E27FC236}">
                <a16:creationId xmlns:a16="http://schemas.microsoft.com/office/drawing/2014/main" id="{A7BF7FAA-F503-FB94-2264-9683CDC8BD28}"/>
              </a:ext>
            </a:extLst>
          </p:cNvPr>
          <p:cNvPicPr/>
          <p:nvPr/>
        </p:nvPicPr>
        <p:blipFill>
          <a:blip r:embed="rId2"/>
          <a:srcRect t="11451"/>
          <a:stretch>
            <a:fillRect/>
          </a:stretch>
        </p:blipFill>
        <p:spPr>
          <a:xfrm>
            <a:off x="1966745" y="1367075"/>
            <a:ext cx="8258510" cy="48114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9EBA53F-7C34-1DCD-3E3F-E4DCA7E87E47}"/>
              </a:ext>
            </a:extLst>
          </p:cNvPr>
          <p:cNvSpPr/>
          <p:nvPr/>
        </p:nvSpPr>
        <p:spPr>
          <a:xfrm>
            <a:off x="566928" y="1086230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37279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179691"/>
                </a:solidFill>
                <a:latin typeface="Aptos"/>
              </a:defRPr>
            </a:pPr>
            <a:r>
              <a:rPr sz="1200" dirty="0"/>
              <a:t>IDENTIFY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1F37"/>
                </a:solidFill>
                <a:latin typeface="Aptos Display"/>
              </a:defRPr>
            </a:pPr>
            <a:r>
              <a:rPr sz="2800" dirty="0"/>
              <a:t>AI in Anomaly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0972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7798E"/>
                </a:solidFill>
                <a:latin typeface="Aptos"/>
              </a:defRPr>
            </a:pPr>
            <a:r>
              <a:rPr sz="1400" dirty="0"/>
              <a:t>UEBA learns normal activity for users and devices, then flags meaningful deviations.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2743200" cy="4251960"/>
          </a:xfrm>
          <a:prstGeom prst="roundRect">
            <a:avLst/>
          </a:prstGeom>
          <a:solidFill>
            <a:srgbClr val="162D4B"/>
          </a:solidFill>
          <a:ln>
            <a:solidFill>
              <a:srgbClr val="16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21945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rPr sz="1600" dirty="0"/>
              <a:t>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21092"/>
            <a:ext cx="2148840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2CBEC6"/>
                </a:solidFill>
                <a:latin typeface="Aptos"/>
              </a:defRPr>
            </a:pPr>
            <a:r>
              <a:rPr sz="1600" dirty="0"/>
              <a:t>User &amp; Entity</a:t>
            </a:r>
          </a:p>
          <a:p>
            <a:pPr algn="l">
              <a:spcAft>
                <a:spcPts val="300"/>
              </a:spcAft>
              <a:defRPr sz="1500" b="1" i="0">
                <a:solidFill>
                  <a:srgbClr val="2CBEC6"/>
                </a:solidFill>
                <a:latin typeface="Aptos"/>
              </a:defRPr>
            </a:pPr>
            <a:r>
              <a:rPr sz="1600" dirty="0" err="1"/>
              <a:t>Behaviour</a:t>
            </a:r>
            <a:r>
              <a:rPr sz="1600" dirty="0"/>
              <a:t>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35358"/>
            <a:ext cx="20116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Monitors: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85415"/>
            <a:ext cx="2148840" cy="92794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DDE8F2"/>
                </a:solidFill>
                <a:latin typeface="Aptos"/>
              </a:defRPr>
            </a:pPr>
            <a:r>
              <a:rPr sz="1200" dirty="0"/>
              <a:t>• Employees &amp; customers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DDE8F2"/>
                </a:solidFill>
                <a:latin typeface="Aptos"/>
              </a:defRPr>
            </a:pPr>
            <a:r>
              <a:rPr sz="1200" dirty="0"/>
              <a:t>• Servers &amp; devices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DDE8F2"/>
                </a:solidFill>
                <a:latin typeface="Aptos"/>
              </a:defRPr>
            </a:pPr>
            <a:r>
              <a:rPr sz="1200" dirty="0"/>
              <a:t>• Login times and locations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DDE8F2"/>
                </a:solidFill>
                <a:latin typeface="Aptos"/>
              </a:defRPr>
            </a:pPr>
            <a:r>
              <a:rPr sz="1200" dirty="0"/>
              <a:t>• Data access and transfers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" y="4563418"/>
            <a:ext cx="7315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2CBEC6"/>
                </a:solidFill>
                <a:latin typeface="Aptos"/>
              </a:defRPr>
            </a:pPr>
            <a:r>
              <a:rPr sz="1400" dirty="0"/>
              <a:t>GOAL</a:t>
            </a:r>
            <a:endParaRPr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864108" y="4808544"/>
            <a:ext cx="214884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Detect compromised accounts, insider threats and data exfiltration.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1719072"/>
            <a:ext cx="3822191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3547872" y="1792224"/>
            <a:ext cx="50292" cy="1115568"/>
          </a:xfrm>
          <a:prstGeom prst="rect">
            <a:avLst/>
          </a:prstGeom>
          <a:solidFill>
            <a:srgbClr val="296FB5"/>
          </a:solidFill>
          <a:ln>
            <a:solidFill>
              <a:srgbClr val="29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712463" y="1828800"/>
            <a:ext cx="354787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1. </a:t>
            </a:r>
            <a:r>
              <a:rPr sz="1400" dirty="0" err="1"/>
              <a:t>Behaviour</a:t>
            </a:r>
            <a:r>
              <a:rPr sz="1400" dirty="0"/>
              <a:t> profiling &amp;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2173349"/>
            <a:ext cx="3529584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K-Means clustering groups users with similar roles and activity to define normal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3182112"/>
            <a:ext cx="3822191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ectangle 18"/>
          <p:cNvSpPr/>
          <p:nvPr/>
        </p:nvSpPr>
        <p:spPr>
          <a:xfrm>
            <a:off x="3547872" y="3255264"/>
            <a:ext cx="50292" cy="1115568"/>
          </a:xfrm>
          <a:prstGeom prst="rect">
            <a:avLst/>
          </a:prstGeom>
          <a:solidFill>
            <a:srgbClr val="7B63BB"/>
          </a:solidFill>
          <a:ln>
            <a:solidFill>
              <a:srgbClr val="7B6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3712463" y="3291840"/>
            <a:ext cx="354787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F1F37"/>
                </a:solidFill>
                <a:latin typeface="Aptos"/>
              </a:defRPr>
            </a:pPr>
            <a:r>
              <a:rPr sz="1400"/>
              <a:t>2. Sequential behaviour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28865"/>
            <a:ext cx="3529584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/>
              <a:t>RNNs / LSTMs detect suspicious sequences—for example, disabling logs before a bulk download.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7872" y="4645152"/>
            <a:ext cx="3822191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ectangle 22"/>
          <p:cNvSpPr/>
          <p:nvPr/>
        </p:nvSpPr>
        <p:spPr>
          <a:xfrm>
            <a:off x="3547872" y="4718304"/>
            <a:ext cx="50292" cy="1115568"/>
          </a:xfrm>
          <a:prstGeom prst="rect">
            <a:avLst/>
          </a:prstGeom>
          <a:solidFill>
            <a:srgbClr val="179691"/>
          </a:solidFill>
          <a:ln>
            <a:solidFill>
              <a:srgbClr val="17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3712463" y="4754880"/>
            <a:ext cx="354787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F1F37"/>
                </a:solidFill>
                <a:latin typeface="Aptos"/>
              </a:defRPr>
            </a:pPr>
            <a:r>
              <a:rPr sz="1400"/>
              <a:t>3. Anomaly detection &amp; risk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5067955"/>
            <a:ext cx="3529584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PCA reduces complex features; Isolation Forest identifies outliers and supports risk scoring.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6096" y="1719072"/>
            <a:ext cx="3959352" cy="418795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7882127" y="1993392"/>
            <a:ext cx="345643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EXAMPLE: UNUSUAL ACCOUNT ACTIVITY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2697480"/>
            <a:ext cx="1078992" cy="274320"/>
          </a:xfrm>
          <a:prstGeom prst="roundRect">
            <a:avLst/>
          </a:prstGeom>
          <a:solidFill>
            <a:srgbClr val="2F9769"/>
          </a:solidFill>
          <a:ln>
            <a:solidFill>
              <a:srgbClr val="2F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7918703" y="2712344"/>
            <a:ext cx="1005839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rPr sz="1050" dirty="0"/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2769382"/>
            <a:ext cx="2084831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200" dirty="0"/>
              <a:t>Usual device and routine login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3081528"/>
            <a:ext cx="0" cy="301752"/>
          </a:xfrm>
          <a:prstGeom prst="line">
            <a:avLst/>
          </a:prstGeom>
          <a:ln w="16510">
            <a:solidFill>
              <a:srgbClr val="677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882127" y="3566160"/>
            <a:ext cx="1078992" cy="274320"/>
          </a:xfrm>
          <a:prstGeom prst="roundRect">
            <a:avLst/>
          </a:prstGeom>
          <a:solidFill>
            <a:srgbClr val="E8A03A"/>
          </a:solidFill>
          <a:ln>
            <a:solidFill>
              <a:srgbClr val="E8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7918703" y="3581024"/>
            <a:ext cx="1005839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rPr sz="1050" dirty="0"/>
              <a:t>DEVIATION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3638062"/>
            <a:ext cx="2084831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200"/>
              <a:t>New device + unusual time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2480" y="3950208"/>
            <a:ext cx="0" cy="301752"/>
          </a:xfrm>
          <a:prstGeom prst="line">
            <a:avLst/>
          </a:prstGeom>
          <a:ln w="16510">
            <a:solidFill>
              <a:srgbClr val="6779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882127" y="4434840"/>
            <a:ext cx="1078992" cy="274320"/>
          </a:xfrm>
          <a:prstGeom prst="roundRect">
            <a:avLst/>
          </a:prstGeom>
          <a:solidFill>
            <a:srgbClr val="CB4F52"/>
          </a:solidFill>
          <a:ln>
            <a:solidFill>
              <a:srgbClr val="CB4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7918703" y="4449704"/>
            <a:ext cx="1005839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rPr sz="1050" dirty="0"/>
              <a:t>HIGH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5712" y="4414408"/>
            <a:ext cx="2084831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200" dirty="0"/>
              <a:t>Large confidential-data download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5282302"/>
            <a:ext cx="345643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 i="1">
                <a:solidFill>
                  <a:srgbClr val="67798E"/>
                </a:solidFill>
                <a:latin typeface="Aptos"/>
              </a:defRPr>
            </a:pPr>
            <a:r>
              <a:rPr sz="1200" dirty="0"/>
              <a:t>AI flags the deviation for investigation; a human analyst validates context and risk.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10528"/>
            <a:ext cx="38404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67798E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179691"/>
                </a:solidFill>
                <a:latin typeface="Aptos"/>
              </a:defRPr>
            </a:pPr>
            <a:r>
              <a:rPr sz="1200" dirty="0"/>
              <a:t>RESPOND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1F37"/>
                </a:solidFill>
                <a:latin typeface="Aptos Display"/>
              </a:defRPr>
            </a:pPr>
            <a:r>
              <a:rPr dirty="0"/>
              <a:t>AI-Powered Automated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0972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7798E"/>
                </a:solidFill>
                <a:latin typeface="Aptos"/>
              </a:defRPr>
            </a:pPr>
            <a:r>
              <a:rPr sz="1400" dirty="0"/>
              <a:t>AI helps prioritize incidents; SOAR coordinates security tools and response playbooks.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828800"/>
            <a:ext cx="19933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2084831"/>
            <a:ext cx="384048" cy="384048"/>
          </a:xfrm>
          <a:prstGeom prst="ellipse">
            <a:avLst/>
          </a:prstGeom>
          <a:solidFill>
            <a:srgbClr val="296FB5"/>
          </a:solidFill>
          <a:ln>
            <a:solidFill>
              <a:srgbClr val="29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104268"/>
            <a:ext cx="384048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5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996099"/>
            <a:ext cx="1234440" cy="5432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High-risk</a:t>
            </a:r>
          </a:p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alert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2322576"/>
            <a:ext cx="237744" cy="0"/>
          </a:xfrm>
          <a:prstGeom prst="line">
            <a:avLst/>
          </a:prstGeom>
          <a:ln w="22860">
            <a:solidFill>
              <a:srgbClr val="2C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1828800"/>
            <a:ext cx="19933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63240" y="2084831"/>
            <a:ext cx="384048" cy="384048"/>
          </a:xfrm>
          <a:prstGeom prst="ellipse">
            <a:avLst/>
          </a:prstGeom>
          <a:solidFill>
            <a:srgbClr val="179691"/>
          </a:solidFill>
          <a:ln>
            <a:solidFill>
              <a:srgbClr val="17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2104268"/>
            <a:ext cx="384048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5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996099"/>
            <a:ext cx="1234440" cy="5432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SOAR</a:t>
            </a:r>
          </a:p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lang="en-IN" sz="1400" dirty="0"/>
              <a:t>ingestion</a:t>
            </a:r>
            <a:endParaRPr sz="1400" dirty="0"/>
          </a:p>
        </p:txBody>
      </p:sp>
      <p:cxnSp>
        <p:nvCxnSpPr>
          <p:cNvPr id="16" name="Connector 15"/>
          <p:cNvCxnSpPr/>
          <p:nvPr/>
        </p:nvCxnSpPr>
        <p:spPr>
          <a:xfrm>
            <a:off x="4946904" y="2322576"/>
            <a:ext cx="237744" cy="0"/>
          </a:xfrm>
          <a:prstGeom prst="line">
            <a:avLst/>
          </a:prstGeom>
          <a:ln w="22860">
            <a:solidFill>
              <a:srgbClr val="2C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30368" y="1828800"/>
            <a:ext cx="19933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7528" y="2084831"/>
            <a:ext cx="384048" cy="384048"/>
          </a:xfrm>
          <a:prstGeom prst="ellipse">
            <a:avLst/>
          </a:prstGeom>
          <a:solidFill>
            <a:srgbClr val="7B63BB"/>
          </a:solidFill>
          <a:ln>
            <a:solidFill>
              <a:srgbClr val="7B6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67528" y="2104268"/>
            <a:ext cx="384048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50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996099"/>
            <a:ext cx="1234440" cy="5432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Context</a:t>
            </a:r>
          </a:p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enrichment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51192" y="2322576"/>
            <a:ext cx="237744" cy="0"/>
          </a:xfrm>
          <a:prstGeom prst="line">
            <a:avLst/>
          </a:prstGeom>
          <a:ln w="22860">
            <a:solidFill>
              <a:srgbClr val="2C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34656" y="1828800"/>
            <a:ext cx="19933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71816" y="2084831"/>
            <a:ext cx="384048" cy="384048"/>
          </a:xfrm>
          <a:prstGeom prst="ellipse">
            <a:avLst/>
          </a:prstGeom>
          <a:solidFill>
            <a:srgbClr val="E8A03A"/>
          </a:solidFill>
          <a:ln>
            <a:solidFill>
              <a:srgbClr val="E8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1816" y="2104268"/>
            <a:ext cx="384048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5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1943241"/>
            <a:ext cx="1234440" cy="75866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lang="en-US" sz="1400" dirty="0"/>
              <a:t>Automated p</a:t>
            </a:r>
            <a:r>
              <a:rPr sz="1400" dirty="0"/>
              <a:t>laybook</a:t>
            </a:r>
          </a:p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lang="en-US" sz="1400" dirty="0"/>
              <a:t>execution</a:t>
            </a:r>
            <a:endParaRPr sz="1400" dirty="0"/>
          </a:p>
        </p:txBody>
      </p:sp>
      <p:cxnSp>
        <p:nvCxnSpPr>
          <p:cNvPr id="26" name="Connector 25"/>
          <p:cNvCxnSpPr/>
          <p:nvPr/>
        </p:nvCxnSpPr>
        <p:spPr>
          <a:xfrm>
            <a:off x="9555480" y="2322576"/>
            <a:ext cx="237744" cy="0"/>
          </a:xfrm>
          <a:prstGeom prst="line">
            <a:avLst/>
          </a:prstGeom>
          <a:ln w="22860">
            <a:solidFill>
              <a:srgbClr val="2C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38944" y="1828800"/>
            <a:ext cx="19933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976104" y="2084831"/>
            <a:ext cx="384048" cy="384048"/>
          </a:xfrm>
          <a:prstGeom prst="ellipse">
            <a:avLst/>
          </a:prstGeom>
          <a:solidFill>
            <a:srgbClr val="2F9769"/>
          </a:solidFill>
          <a:ln>
            <a:solidFill>
              <a:srgbClr val="2F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76104" y="2104268"/>
            <a:ext cx="384048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050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0736" y="1996099"/>
            <a:ext cx="1234440" cy="54322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Human review</a:t>
            </a:r>
          </a:p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&amp; recovery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3246120"/>
            <a:ext cx="35478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" y="3319272"/>
            <a:ext cx="50292" cy="1362456"/>
          </a:xfrm>
          <a:prstGeom prst="rect">
            <a:avLst/>
          </a:prstGeom>
          <a:solidFill>
            <a:srgbClr val="296FB5"/>
          </a:solidFill>
          <a:ln>
            <a:solidFill>
              <a:srgbClr val="29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1276" y="3355848"/>
            <a:ext cx="3273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F1F37"/>
                </a:solidFill>
                <a:latin typeface="Aptos"/>
              </a:defRPr>
            </a:pPr>
            <a:r>
              <a:rPr lang="en-US" sz="1600" dirty="0"/>
              <a:t>ML</a:t>
            </a:r>
            <a:r>
              <a:rPr sz="1600" dirty="0"/>
              <a:t>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628" y="3739895"/>
            <a:ext cx="3255264" cy="7971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Classification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Predictive analytics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Reinforcement learning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5968" y="3246120"/>
            <a:ext cx="35478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15968" y="3319272"/>
            <a:ext cx="50292" cy="1362456"/>
          </a:xfrm>
          <a:prstGeom prst="rect">
            <a:avLst/>
          </a:prstGeom>
          <a:solidFill>
            <a:srgbClr val="179691"/>
          </a:solidFill>
          <a:ln>
            <a:solidFill>
              <a:srgbClr val="17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59" y="3355848"/>
            <a:ext cx="3273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F1F37"/>
                </a:solidFill>
                <a:latin typeface="Aptos"/>
              </a:defRPr>
            </a:pPr>
            <a:r>
              <a:rPr sz="1600" dirty="0"/>
              <a:t>Automated containment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6875" y="3742795"/>
            <a:ext cx="3255264" cy="7971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Isolate infected endpoints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Block malicious traffic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Temporarily lock compromised accounts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2338" y="3246120"/>
            <a:ext cx="3547872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0144" y="3319272"/>
            <a:ext cx="50292" cy="1362456"/>
          </a:xfrm>
          <a:prstGeom prst="rect">
            <a:avLst/>
          </a:prstGeom>
          <a:solidFill>
            <a:srgbClr val="7B63BB"/>
          </a:solidFill>
          <a:ln>
            <a:solidFill>
              <a:srgbClr val="7B6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74736" y="3355848"/>
            <a:ext cx="327355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0F1F37"/>
                </a:solidFill>
                <a:latin typeface="Aptos"/>
              </a:defRPr>
            </a:pPr>
            <a:r>
              <a:rPr lang="en-US" sz="1600" dirty="0"/>
              <a:t>Agentic </a:t>
            </a:r>
            <a:r>
              <a:rPr sz="1600" dirty="0"/>
              <a:t>SOAR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8934" y="3671040"/>
            <a:ext cx="3255264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233143"/>
                </a:solidFill>
                <a:latin typeface="Aptos"/>
              </a:defRPr>
            </a:pPr>
            <a:r>
              <a:rPr lang="en-US" sz="1400" dirty="0"/>
              <a:t>Use of autonomous AI agents that can plan, reason, and adaptively investigate security incidents live at runtime</a:t>
            </a:r>
            <a:endParaRPr sz="1400" dirty="0"/>
          </a:p>
        </p:txBody>
      </p:sp>
      <p:sp>
        <p:nvSpPr>
          <p:cNvPr id="43" name="Rounded Rectangle 42"/>
          <p:cNvSpPr/>
          <p:nvPr/>
        </p:nvSpPr>
        <p:spPr>
          <a:xfrm>
            <a:off x="621792" y="5138928"/>
            <a:ext cx="10936224" cy="786384"/>
          </a:xfrm>
          <a:prstGeom prst="roundRect">
            <a:avLst/>
          </a:prstGeom>
          <a:solidFill>
            <a:srgbClr val="162D4B"/>
          </a:solidFill>
          <a:ln>
            <a:solidFill>
              <a:srgbClr val="16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330952"/>
            <a:ext cx="19202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CBEC6"/>
                </a:solidFill>
                <a:latin typeface="Aptos"/>
              </a:defRPr>
            </a:pPr>
            <a:r>
              <a:rPr sz="1400" dirty="0"/>
              <a:t>HUMAN-IN-THE-LOOP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30952"/>
            <a:ext cx="836676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Require expert approval for high-impact actions; verify, recover, document and improve.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10528"/>
            <a:ext cx="38404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67798E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6C742-0A5E-0752-01EE-F3A816EA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4AFB05-D2BD-310A-D8F1-F7EFD916B421}"/>
              </a:ext>
            </a:extLst>
          </p:cNvPr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179691"/>
                </a:solidFill>
                <a:latin typeface="Aptos"/>
              </a:defRPr>
            </a:pPr>
            <a:r>
              <a:rPr sz="1200" dirty="0"/>
              <a:t>INDUSTRY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F23D9-711A-D0F3-363B-F1498395B86C}"/>
              </a:ext>
            </a:extLst>
          </p:cNvPr>
          <p:cNvSpPr txBox="1"/>
          <p:nvPr/>
        </p:nvSpPr>
        <p:spPr>
          <a:xfrm>
            <a:off x="530352" y="530352"/>
            <a:ext cx="111099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1F37"/>
                </a:solidFill>
                <a:latin typeface="Aptos Display"/>
              </a:defRPr>
            </a:pPr>
            <a:r>
              <a:rPr sz="2800" dirty="0"/>
              <a:t>AI-Driven Cybersecurity Solutions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B650F-50ED-C654-74D9-405A992CAA6E}"/>
              </a:ext>
            </a:extLst>
          </p:cNvPr>
          <p:cNvSpPr txBox="1"/>
          <p:nvPr/>
        </p:nvSpPr>
        <p:spPr>
          <a:xfrm>
            <a:off x="566928" y="1069848"/>
            <a:ext cx="10972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7798E"/>
                </a:solidFill>
                <a:latin typeface="Aptos"/>
              </a:defRPr>
            </a:pPr>
            <a:r>
              <a:rPr sz="1400" dirty="0"/>
              <a:t>Three examples of how vendors apply AI across enterprise security, integrated </a:t>
            </a:r>
            <a:r>
              <a:rPr sz="1400" dirty="0" err="1"/>
              <a:t>defen</a:t>
            </a:r>
            <a:r>
              <a:rPr lang="en-US" sz="1400" dirty="0" err="1"/>
              <a:t>c</a:t>
            </a:r>
            <a:r>
              <a:rPr sz="1400" dirty="0" err="1"/>
              <a:t>e</a:t>
            </a:r>
            <a:r>
              <a:rPr sz="1400" dirty="0"/>
              <a:t> and endpoint protection.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E6792F-0893-29A8-F299-AF08526C4573}"/>
              </a:ext>
            </a:extLst>
          </p:cNvPr>
          <p:cNvSpPr/>
          <p:nvPr/>
        </p:nvSpPr>
        <p:spPr>
          <a:xfrm>
            <a:off x="548640" y="1426464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F80CF0-8D45-EBCA-B6A5-1A7B6B5C61DB}"/>
              </a:ext>
            </a:extLst>
          </p:cNvPr>
          <p:cNvSpPr txBox="1"/>
          <p:nvPr/>
        </p:nvSpPr>
        <p:spPr>
          <a:xfrm>
            <a:off x="566928" y="6510528"/>
            <a:ext cx="38404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67798E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5510F93-7724-5EB5-E267-1C349EB69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437624"/>
              </p:ext>
            </p:extLst>
          </p:nvPr>
        </p:nvGraphicFramePr>
        <p:xfrm>
          <a:off x="1871608" y="1551182"/>
          <a:ext cx="8448784" cy="4199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2196">
                  <a:extLst>
                    <a:ext uri="{9D8B030D-6E8A-4147-A177-3AD203B41FA5}">
                      <a16:colId xmlns:a16="http://schemas.microsoft.com/office/drawing/2014/main" val="3473916081"/>
                    </a:ext>
                  </a:extLst>
                </a:gridCol>
                <a:gridCol w="2112196">
                  <a:extLst>
                    <a:ext uri="{9D8B030D-6E8A-4147-A177-3AD203B41FA5}">
                      <a16:colId xmlns:a16="http://schemas.microsoft.com/office/drawing/2014/main" val="909913274"/>
                    </a:ext>
                  </a:extLst>
                </a:gridCol>
                <a:gridCol w="2112196">
                  <a:extLst>
                    <a:ext uri="{9D8B030D-6E8A-4147-A177-3AD203B41FA5}">
                      <a16:colId xmlns:a16="http://schemas.microsoft.com/office/drawing/2014/main" val="620567920"/>
                    </a:ext>
                  </a:extLst>
                </a:gridCol>
                <a:gridCol w="2112196">
                  <a:extLst>
                    <a:ext uri="{9D8B030D-6E8A-4147-A177-3AD203B41FA5}">
                      <a16:colId xmlns:a16="http://schemas.microsoft.com/office/drawing/2014/main" val="175453967"/>
                    </a:ext>
                  </a:extLst>
                </a:gridCol>
              </a:tblGrid>
              <a:tr h="354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Feature / Focus</a:t>
                      </a:r>
                    </a:p>
                  </a:txBody>
                  <a:tcPr marL="53881" marR="53881" marT="26940" marB="269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Palo Alto Networks</a:t>
                      </a:r>
                    </a:p>
                  </a:txBody>
                  <a:tcPr marL="53881" marR="53881" marT="26940" marB="269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Microsoft</a:t>
                      </a:r>
                    </a:p>
                  </a:txBody>
                  <a:tcPr marL="53881" marR="53881" marT="26940" marB="269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Quick Heal / Seqrite</a:t>
                      </a:r>
                    </a:p>
                  </a:txBody>
                  <a:tcPr marL="53881" marR="53881" marT="26940" marB="269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88374"/>
                  </a:ext>
                </a:extLst>
              </a:tr>
              <a:tr h="9356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Primary AI Engine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Precision AI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Security Copilot &amp; Agentic Mesh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 err="1"/>
                        <a:t>GoDeep.AI</a:t>
                      </a:r>
                      <a:endParaRPr lang="en-IN" sz="1400" dirty="0"/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2543919945"/>
                  </a:ext>
                </a:extLst>
              </a:tr>
              <a:tr h="7879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Target Environment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Enterprise networks, heavy cloud deployments, and global SOCs.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Global enterprises, hybrid Azure clouds, and Windows ecosystems.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Consumers, SMBs, and distributed enterprise endpoints.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2303471631"/>
                  </a:ext>
                </a:extLst>
              </a:tr>
              <a:tr h="7879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Response Speed &amp; Automation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&lt;30 sec threat closure via Cortex XSIAM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Automatic attack disruption across Windows and cloud layers.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Instant behavioral blocking and dynamic ransomware data rollback.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1490406635"/>
                  </a:ext>
                </a:extLst>
              </a:tr>
              <a:tr h="6401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Generative AI Assistant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Strata Copilot &amp; Cortex Copilot 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Microsoft Security Copilot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Security Intelligent Assistant (SIA)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351443912"/>
                  </a:ext>
                </a:extLst>
              </a:tr>
              <a:tr h="6401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Specialized AI Defence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Prisma AIRS: Protects enterprise-built LLMs from prompt injection.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MDASH Agents: 100+ AI agents hunting for unpatched OS bugs.</a:t>
                      </a:r>
                    </a:p>
                  </a:txBody>
                  <a:tcPr marL="53881" marR="53881" marT="26940" marB="2694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AntiFraud.AI: Scans calls, texts, and links to block financial scams.</a:t>
                      </a:r>
                    </a:p>
                  </a:txBody>
                  <a:tcPr marL="53881" marR="53881" marT="26940" marB="26940" anchor="ctr"/>
                </a:tc>
                <a:extLst>
                  <a:ext uri="{0D108BD9-81ED-4DB2-BD59-A6C34878D82A}">
                    <a16:rowId xmlns:a16="http://schemas.microsoft.com/office/drawing/2014/main" val="28097550"/>
                  </a:ext>
                </a:extLst>
              </a:tr>
            </a:tbl>
          </a:graphicData>
        </a:graphic>
      </p:graphicFrame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0963FD6-E8E6-21A1-1D5F-B790709F4DC1}"/>
              </a:ext>
            </a:extLst>
          </p:cNvPr>
          <p:cNvSpPr/>
          <p:nvPr/>
        </p:nvSpPr>
        <p:spPr>
          <a:xfrm>
            <a:off x="566928" y="5925312"/>
            <a:ext cx="11009376" cy="393192"/>
          </a:xfrm>
          <a:prstGeom prst="roundRect">
            <a:avLst/>
          </a:prstGeom>
          <a:solidFill>
            <a:srgbClr val="162D4B"/>
          </a:solidFill>
          <a:ln>
            <a:solidFill>
              <a:srgbClr val="16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72E37E-D3EB-2C20-192D-A7857664DCA1}"/>
              </a:ext>
            </a:extLst>
          </p:cNvPr>
          <p:cNvSpPr txBox="1"/>
          <p:nvPr/>
        </p:nvSpPr>
        <p:spPr>
          <a:xfrm>
            <a:off x="749808" y="6016752"/>
            <a:ext cx="106527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TAKEAWAY  •  AI is shifting cybersecurity from reactive monitoring toward proactive, increasingly automated </a:t>
            </a:r>
            <a:r>
              <a:rPr sz="1400" dirty="0" err="1"/>
              <a:t>defence</a:t>
            </a:r>
            <a:r>
              <a:rPr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2395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179691"/>
                </a:solidFill>
                <a:latin typeface="Aptos"/>
              </a:defRPr>
            </a:pPr>
            <a:r>
              <a:rPr sz="1200" dirty="0"/>
              <a:t>IMPLEMENTATION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1F37"/>
                </a:solidFill>
                <a:latin typeface="Aptos Display"/>
              </a:defRPr>
            </a:pPr>
            <a:r>
              <a:t>AI Integration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0972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67798E"/>
                </a:solidFill>
                <a:latin typeface="Aptos"/>
              </a:defRPr>
            </a:pPr>
            <a:r>
              <a:rPr sz="1400" dirty="0"/>
              <a:t>Effective AI security must balance robustness, ethical safeguards and measurable business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755648"/>
            <a:ext cx="3566160" cy="4133087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50292" cy="3986783"/>
          </a:xfrm>
          <a:prstGeom prst="rect">
            <a:avLst/>
          </a:prstGeom>
          <a:solidFill>
            <a:srgbClr val="E8A03A"/>
          </a:solidFill>
          <a:ln>
            <a:solidFill>
              <a:srgbClr val="E8A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65376"/>
            <a:ext cx="32918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F1F37"/>
                </a:solidFill>
                <a:latin typeface="Aptos"/>
              </a:defRPr>
            </a:pPr>
            <a:r>
              <a:rPr sz="1600"/>
              <a:t>01  Adversarial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3273552" cy="351326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Attackers manipulate AI systems to evade or weaken security.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lang="en-US" sz="1400" dirty="0"/>
              <a:t>Model e</a:t>
            </a:r>
            <a:r>
              <a:rPr sz="1400" dirty="0"/>
              <a:t>vasion</a:t>
            </a:r>
            <a:r>
              <a:rPr lang="en-US" sz="1400" dirty="0"/>
              <a:t> post deployment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Data poisoning</a:t>
            </a:r>
            <a:r>
              <a:rPr lang="en-US" sz="1400" dirty="0"/>
              <a:t> at training stage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Prompt injection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lang="en-IN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Model extraction</a:t>
            </a:r>
            <a:r>
              <a:rPr lang="en-US" sz="1400" dirty="0"/>
              <a:t> 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ATTACK PATH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Identify weakness → Manipulate input → Evade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55648"/>
            <a:ext cx="3566160" cy="4133087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50292" cy="3986783"/>
          </a:xfrm>
          <a:prstGeom prst="rect">
            <a:avLst/>
          </a:prstGeom>
          <a:solidFill>
            <a:srgbClr val="7B63BB"/>
          </a:solidFill>
          <a:ln>
            <a:solidFill>
              <a:srgbClr val="7B6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865376"/>
            <a:ext cx="32918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F1F37"/>
                </a:solidFill>
                <a:latin typeface="Aptos"/>
              </a:defRPr>
            </a:pPr>
            <a:r>
              <a:rPr sz="1600" dirty="0"/>
              <a:t>02  Ethical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67712"/>
            <a:ext cx="3273552" cy="31824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Accountability: </a:t>
            </a:r>
            <a:r>
              <a:rPr sz="1400" dirty="0"/>
              <a:t>responsibility for </a:t>
            </a:r>
            <a:r>
              <a:rPr lang="en-US" sz="1400" dirty="0"/>
              <a:t>false negatives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lang="en-US" sz="1400" b="1" dirty="0"/>
              <a:t>Data p</a:t>
            </a:r>
            <a:r>
              <a:rPr sz="1400" b="1" dirty="0"/>
              <a:t>rivacy: </a:t>
            </a:r>
            <a:r>
              <a:rPr lang="en-US" sz="1400" dirty="0"/>
              <a:t>E</a:t>
            </a:r>
            <a:r>
              <a:rPr sz="1400" dirty="0"/>
              <a:t>xcessive collection or monitoring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lang="en-US" sz="1400" b="1" dirty="0"/>
              <a:t>Algorithmic </a:t>
            </a:r>
            <a:r>
              <a:rPr sz="1400" b="1" dirty="0"/>
              <a:t>Bias: </a:t>
            </a:r>
            <a:r>
              <a:rPr lang="en-US" sz="1400" dirty="0"/>
              <a:t>Data inaccuracy &amp; </a:t>
            </a:r>
            <a:r>
              <a:rPr sz="1400" dirty="0"/>
              <a:t>false positives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Transparency: </a:t>
            </a:r>
            <a:r>
              <a:rPr lang="en-US" sz="1400" dirty="0"/>
              <a:t>L</a:t>
            </a:r>
            <a:r>
              <a:rPr sz="1400" dirty="0"/>
              <a:t>imited explainability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b="1" dirty="0"/>
              <a:t>Over-reliance:</a:t>
            </a:r>
            <a:r>
              <a:rPr sz="1400" dirty="0"/>
              <a:t> </a:t>
            </a:r>
            <a:r>
              <a:rPr lang="en-US" sz="1400" dirty="0"/>
              <a:t>B</a:t>
            </a:r>
            <a:r>
              <a:rPr sz="1400" dirty="0"/>
              <a:t>lind trust in automated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55648"/>
            <a:ext cx="3511296" cy="4133087"/>
          </a:xfrm>
          <a:prstGeom prst="roundRect">
            <a:avLst/>
          </a:prstGeom>
          <a:solidFill>
            <a:srgbClr val="FFFFFF"/>
          </a:solidFill>
          <a:ln>
            <a:solidFill>
              <a:srgbClr val="DA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828800"/>
            <a:ext cx="50292" cy="3986783"/>
          </a:xfrm>
          <a:prstGeom prst="rect">
            <a:avLst/>
          </a:prstGeom>
          <a:solidFill>
            <a:srgbClr val="179691"/>
          </a:solidFill>
          <a:ln>
            <a:solidFill>
              <a:srgbClr val="17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865376"/>
            <a:ext cx="323697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0F1F37"/>
                </a:solidFill>
                <a:latin typeface="Aptos"/>
              </a:defRPr>
            </a:pPr>
            <a:r>
              <a:rPr sz="1600" dirty="0"/>
              <a:t>03  Return on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3218688" cy="351326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COST DRIVERS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</a:t>
            </a:r>
            <a:r>
              <a:rPr lang="en-US" sz="1400" dirty="0"/>
              <a:t>AI </a:t>
            </a:r>
            <a:r>
              <a:rPr sz="1400" dirty="0"/>
              <a:t>Software</a:t>
            </a:r>
            <a:r>
              <a:rPr lang="en-US" sz="1400" dirty="0"/>
              <a:t> license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lang="en-US" sz="1400" dirty="0"/>
          </a:p>
          <a:p>
            <a:pPr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lang="en-IN" sz="1400" dirty="0"/>
              <a:t>• C</a:t>
            </a:r>
            <a:r>
              <a:rPr sz="1400" dirty="0"/>
              <a:t>loud and data integration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Skilled staff and employee training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• Model </a:t>
            </a:r>
            <a:r>
              <a:rPr lang="en-US" sz="1400" dirty="0"/>
              <a:t>training, deployment </a:t>
            </a:r>
            <a:r>
              <a:rPr sz="1400" dirty="0"/>
              <a:t>and </a:t>
            </a:r>
            <a:r>
              <a:rPr lang="en-US" sz="1400" dirty="0"/>
              <a:t>maintenance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b="1" dirty="0"/>
              <a:t>MEASUREMENT CHALLENGE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r>
              <a:rPr sz="1400" dirty="0"/>
              <a:t>Prevented attacks and avoided losses are difficult to quantify.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233143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713232" y="6053328"/>
            <a:ext cx="108356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0F1F37"/>
                </a:solidFill>
                <a:latin typeface="Aptos"/>
              </a:defRPr>
            </a:pPr>
            <a:r>
              <a:rPr sz="1400" dirty="0"/>
              <a:t>KEY CHALLENGE: Balance security gains with cost, ethical responsibility and evolving threats.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38404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67798E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7724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2CBEC6"/>
                </a:solidFill>
                <a:latin typeface="Aptos"/>
              </a:defRPr>
            </a:pPr>
            <a:r>
              <a:rPr sz="1200" dirty="0"/>
              <a:t>RESPONSIBLE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FFFFFF"/>
                </a:solidFill>
                <a:latin typeface="Aptos Display"/>
              </a:defRPr>
            </a:pPr>
            <a:r>
              <a:rPr sz="2800" dirty="0"/>
              <a:t>Responsible AI Integration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9848"/>
            <a:ext cx="109728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C1D3E4"/>
                </a:solidFill>
                <a:latin typeface="Aptos"/>
              </a:defRPr>
            </a:pPr>
            <a:r>
              <a:rPr sz="1400" dirty="0"/>
              <a:t>Build AI-enabled cybersecurity </a:t>
            </a:r>
            <a:r>
              <a:rPr lang="en-US" sz="1400" dirty="0"/>
              <a:t>solutions </a:t>
            </a:r>
            <a:r>
              <a:rPr sz="1400" dirty="0"/>
              <a:t>that </a:t>
            </a:r>
            <a:r>
              <a:rPr lang="en-US" sz="1400" dirty="0"/>
              <a:t>are</a:t>
            </a:r>
            <a:r>
              <a:rPr sz="1400" dirty="0"/>
              <a:t> secure, explainable, accountable and measurable.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749808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3547872" cy="2822198"/>
          </a:xfrm>
          <a:prstGeom prst="roundRect">
            <a:avLst/>
          </a:prstGeom>
          <a:solidFill>
            <a:srgbClr val="162D4B"/>
          </a:solidFill>
          <a:ln>
            <a:solidFill>
              <a:srgbClr val="35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3547872" cy="73152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089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2CBEC6"/>
                </a:solidFill>
                <a:latin typeface="Aptos"/>
              </a:defRPr>
            </a:pPr>
            <a:r>
              <a:rPr sz="1400" dirty="0"/>
              <a:t>SECURE THE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3108960" cy="19513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Adversarial training and data validation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Continuous monitoring and rate limiting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Use MITRE ATLAS to understand AI attack techniques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547872" cy="2822198"/>
          </a:xfrm>
          <a:prstGeom prst="roundRect">
            <a:avLst/>
          </a:prstGeom>
          <a:solidFill>
            <a:srgbClr val="162D4B"/>
          </a:solidFill>
          <a:ln>
            <a:solidFill>
              <a:srgbClr val="35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3547872" cy="73152"/>
          </a:xfrm>
          <a:prstGeom prst="rect">
            <a:avLst/>
          </a:prstGeom>
          <a:solidFill>
            <a:srgbClr val="7B63BB"/>
          </a:solidFill>
          <a:ln>
            <a:solidFill>
              <a:srgbClr val="7B6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2011680"/>
            <a:ext cx="31089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7B63BB"/>
                </a:solidFill>
                <a:latin typeface="Aptos"/>
              </a:defRPr>
            </a:pPr>
            <a:r>
              <a:rPr sz="1400" dirty="0"/>
              <a:t>GOVERN RESPONSIBLY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328734"/>
            <a:ext cx="3529584" cy="2028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</a:t>
            </a:r>
            <a:r>
              <a:rPr lang="en-US" sz="1400" dirty="0"/>
              <a:t>Apply </a:t>
            </a:r>
            <a:r>
              <a:rPr sz="1400" dirty="0"/>
              <a:t>NIST AI RMF</a:t>
            </a:r>
            <a:r>
              <a:rPr lang="en-US" sz="1400" dirty="0"/>
              <a:t> practices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</a:t>
            </a:r>
            <a:r>
              <a:rPr lang="en-US" sz="1400" dirty="0"/>
              <a:t>Regular audits &amp; use of Explainable AI (XAI)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Align with applicable RBI, CERT-In and DPDP requirements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</a:t>
            </a:r>
            <a:r>
              <a:rPr lang="en-US" sz="1400" dirty="0"/>
              <a:t>Human In The Loop (HITL)</a:t>
            </a:r>
            <a:endParaRPr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8028431" y="1783080"/>
            <a:ext cx="3547872" cy="2822198"/>
          </a:xfrm>
          <a:prstGeom prst="roundRect">
            <a:avLst/>
          </a:prstGeom>
          <a:solidFill>
            <a:srgbClr val="162D4B"/>
          </a:solidFill>
          <a:ln>
            <a:solidFill>
              <a:srgbClr val="35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1" y="1783080"/>
            <a:ext cx="3547872" cy="73152"/>
          </a:xfrm>
          <a:prstGeom prst="rect">
            <a:avLst/>
          </a:prstGeom>
          <a:solidFill>
            <a:srgbClr val="2F9769"/>
          </a:solidFill>
          <a:ln>
            <a:solidFill>
              <a:srgbClr val="2F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9872" y="2006257"/>
            <a:ext cx="310896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2F9769"/>
                </a:solidFill>
                <a:latin typeface="Aptos"/>
              </a:defRPr>
            </a:pPr>
            <a:r>
              <a:rPr sz="1400" dirty="0"/>
              <a:t>PROVE THE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87168"/>
            <a:ext cx="3108960" cy="15204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Start with high-impact use cases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Track MTTD and MTTR improvements</a:t>
            </a:r>
            <a:endParaRPr lang="en-US"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endParaRPr sz="1400"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• Measure prevented losses, lifecycle costs and false positives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7" y="4873753"/>
            <a:ext cx="11009375" cy="868679"/>
          </a:xfrm>
          <a:prstGeom prst="roundRect">
            <a:avLst/>
          </a:prstGeom>
          <a:solidFill>
            <a:srgbClr val="183453"/>
          </a:solidFill>
          <a:ln>
            <a:solidFill>
              <a:srgbClr val="354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948553"/>
            <a:ext cx="15544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2CBEC6"/>
                </a:solidFill>
                <a:latin typeface="Aptos"/>
              </a:defRPr>
            </a:pPr>
            <a:r>
              <a:rPr sz="1400" dirty="0"/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182362"/>
            <a:ext cx="10533888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AI strengthens threat detection, anomaly identification and incident response</a:t>
            </a:r>
            <a:r>
              <a:rPr lang="en-US" sz="1400" dirty="0"/>
              <a:t> </a:t>
            </a:r>
            <a:r>
              <a:rPr sz="1400" dirty="0"/>
              <a:t>—</a:t>
            </a:r>
            <a:r>
              <a:rPr lang="en-US" sz="1400" dirty="0"/>
              <a:t> </a:t>
            </a:r>
            <a:r>
              <a:rPr sz="1400" dirty="0"/>
              <a:t>but it must complement, not replace, human judgement.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07608"/>
            <a:ext cx="11009376" cy="41148"/>
          </a:xfrm>
          <a:prstGeom prst="rect">
            <a:avLst/>
          </a:prstGeom>
          <a:solidFill>
            <a:srgbClr val="2CBEC6"/>
          </a:solidFill>
          <a:ln>
            <a:solidFill>
              <a:srgbClr val="2C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6181344"/>
            <a:ext cx="107442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AI-DRIVEN SPEED  +  HUMAN EXPERTISE  +  ACCOUNTABILITY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38404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EC0D3"/>
                </a:solidFill>
                <a:latin typeface="Aptos"/>
              </a:defRPr>
            </a:pPr>
            <a:r>
              <a:rPr sz="1050" dirty="0"/>
              <a:t>AI IN CYBERSECURITY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1167</Words>
  <Application>Microsoft Macintosh PowerPoint</Application>
  <PresentationFormat>Widescreen</PresentationFormat>
  <Paragraphs>227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Financial Cybersecurity</dc:title>
  <dc:subject>AI/ML threat detection, anomaly identification, incident response and responsible integration</dc:subject>
  <dc:creator>OpenAI</dc:creator>
  <cp:keywords>AI, cybersecurity, financial services, UEBA, SOAR, responsible AI</cp:keywords>
  <dc:description>generated using python-pptx</dc:description>
  <cp:lastModifiedBy>Maitri Jani</cp:lastModifiedBy>
  <cp:revision>6</cp:revision>
  <dcterms:created xsi:type="dcterms:W3CDTF">2013-01-27T09:14:16Z</dcterms:created>
  <dcterms:modified xsi:type="dcterms:W3CDTF">2026-10-18T10:40:19Z</dcterms:modified>
  <cp:category/>
</cp:coreProperties>
</file>